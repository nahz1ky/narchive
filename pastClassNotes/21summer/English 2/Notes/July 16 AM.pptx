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64" r:id="rId3"/>
    <p:sldId id="277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8" r:id="rId17"/>
    <p:sldId id="279" r:id="rId18"/>
    <p:sldId id="285" r:id="rId19"/>
    <p:sldId id="280" r:id="rId20"/>
    <p:sldId id="284" r:id="rId21"/>
    <p:sldId id="281" r:id="rId22"/>
    <p:sldId id="282" r:id="rId23"/>
    <p:sldId id="28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09"/>
    <p:restoredTop sz="94667"/>
  </p:normalViewPr>
  <p:slideViewPr>
    <p:cSldViewPr snapToGrid="0" snapToObjects="1">
      <p:cViewPr>
        <p:scale>
          <a:sx n="130" d="100"/>
          <a:sy n="130" d="100"/>
        </p:scale>
        <p:origin x="320" y="-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16T02:11:34.9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7386 8560 24575,'13'0'0,"2"0"0,11 0 0,2 0 0,0 0 0,3 0 0,-4 0 0,1 0 0,-2 0 0,28-4 0,-28 4 0,27-4 0,-39 4 0,3 0 0,-3 0 0,3 0 0,-3 0 0,4 0 0,-1 0 0,-3 0 0,7 0 0,-3 0 0,40 0 0,-31 0 0,22 0 0,-39 0 0,-4 0 0,0 0 0,0 0 0,0 0 0,0 0 0,0 0 0,3 0 0,5 0 0,9 0 0,17 0 0,4 0 0,-2 0 0,0 0 0,-4 0 0,-24 0 0,-2 0 0,-5 0 0,2 0 0,-2 0 0,-2 0 0,5 0 0,4 0 0,4 0 0,47 0 0,-32 0 0,33 0 0,-44 0 0,0 0 0,-4 0 0,0 0 0,-5 0 0,4 0 0,-2 0 0,2 0 0,-4 0 0,1 0 0,40 0 0,-33 0 0,33 0 0,-47 0 0,2 0 0,-3 0 0,0 0 0,0 0 0,7 0 0,2 0 0,16 0 0,-6 0 0,16 0 0,22 0 0,-22 0 0,12 0 0,-37 0 0,-9 0 0,3 0 0,-4 0 0,3 0 0,1 0 0,7 0 0,2 0 0,7 0 0,-3 0 0,0 0 0,-2 0 0,-7 0 0,30 0 0,-11 0 0,29 0 0,-23 0 0,15 0 0,-15-4 0,10 3 0,-5-6 0,-6 6 0,-1-3 0,-5 0 0,0 3 0,19-1 0,2 1 0,-8 1 0,5 0 0,-5 0 0,-28 0 0,-7 0 0,-1 0 0,-3 0 0,0 0 0,1 0 0,6 0 0,2 0 0,16 0 0,-6 0 0,16 0 0,-3 0 0,1 0 0,6 0 0,-8 0 0,-3 0 0,-20 0 0,-5 0 0,-3 0 0,0 0 0,0 0 0,3 0 0,5 0 0,9 0 0,0 0 0,8 0 0,-12 0 0,7 0 0,0 0 0,-10 0 0,5 0 0,-8 3 0,-2-2 0,20 2 0,-11-3 0,21 0 0,-12 4 0,13-3 0,-13 2 0,7 1 0,-17-4 0,3 4 0,-4-1 0,-7-3 0,6 3 0,-7-3 0,16 0 0,-5 0 0,25 0 0,-16 4 0,18-3 0,-9 6 0,-1-3 0,16 4 0,-30 0 0,11-5 0,-30 0 0,5-3 0,3 0 0,2 0 0,2 0 0,-4 0 0,1 0 0,7 0 0,-11 0 0,4 0 0</inkml:trace>
  <inkml:trace contextRef="#ctx0" brushRef="#br0" timeOffset="33530">9196 14607 24575,'0'0'0</inkml:trace>
  <inkml:trace contextRef="#ctx0" brushRef="#br0" timeOffset="34068">9196 14607 24575,'0'0'0</inkml:trace>
  <inkml:trace contextRef="#ctx0" brushRef="#br0" timeOffset="38553">9235 14637 24575,'16'0'0,"6"0"0,1 0 0,3 0 0,-4 0 0,0-3 0,-3 2 0,-5-2 0,-5 3 0,29-3 0,-12-2 0,26-3 0,-15 4 0,-3 0 0,3 1 0,-10 2 0,4-6 0,-8 6 0,4-6 0,-9 6 0,3-2 0,-3-1 0,38 0 0,-29-3 0,28 3 0,-41 1 0,0 3 0,-1 0 0,-6-3 0,2 3 0,-3-3 0,0 3 0,7 0 0,2-3 0,7 2 0,16-3 0,3 1 0,0 2 0,-2-1 0,-2 1 0,-15 1 0,-9 0 0,1 0 0,-1 0 0,4 0 0,-2 0 0,6 0 0,-7 0 0,7 0 0,-6 0 0,2 0 0,22 0 0,-19 0 0,22 0 0,-27 0 0,6 0 0,-7 0 0,4 0 0,-5 0 0,4 0 0,-2 0 0,2 0 0,0 0 0,-3 0 0,4 0 0,25 0 0,-22 0 0,26 0 0,-33 0 0,7 0 0,-3 0 0,5 0 0,-5 0 0,3 0 0,-3 0 0,0 0 0,0 0 0,-5 0 0,18 0 0,-14 0 0,11 0 0,-16 0 0,-5 0 0,6 0 0,-6 0 0,5 0 0,-1 0 0,-1 0 0,2 0 0,-5 0 0,6 0 0,14 3 0,-12-3 0,15 3 0,-24 0 0,7-3 0,-3 3 0,4 0 0,-4-2 0,2 2 0,-1 0 0,2-3 0,0 6 0,1-5 0,3 5 0,-3-5 0,22 5 0,-19-5 0,15 5 0,-15-5 0,-3 2 0,0-3 0,-1 3 0,-6-2 0,2 2 0,-3-3 0,0 0 0,0 0 0,2 0 0,6 0 0,3 0 0,10 0 0,-4 0 0,8 0 0,-8 3 0,0-2 0,-6 2 0,-4-3 0,-3 0 0,0 0 0,-4 0 0,44 0 0,-21 4 0,5-4 0,2 0 0,-3 4 0,4-4 0,-9 0 0,-2 0 0,-8 0 0,-4 0 0,-4 0 0,-4 0 0,0 0 0,3 0 0,15 0 0,-10 0 0,9 0 0,-17 0 0,-2 0 0,-2 0 0</inkml:trace>
  <inkml:trace contextRef="#ctx0" brushRef="#br0" timeOffset="103349">7543 12183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16T02:13:57.8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12361 9109 24575,'15'0'0,"8"0"0,-4 0 0,17 0 0,-2 0 0,21 0 0,-9 0 0,15 0 0,5 0 0,1 0 0,-6 0-331,-15 0 0,6 0 1,-10 0 330,-5 0 0,18 0 0,-11 0 0,-10 0 0,-3 0 0,-4 0 0,5 0 992,7 0-992,4 0 0,6 0 0,7 0 0,-5 0 0,8 0 0,-5 0 0,-9 0 0,-1 0-339,8 0 0,4 0 0,-8 0 339,6 0 0,-9 0-265,-12 0 0,1 0 265,20 0-132,4-3 132,-10 2 0,-10-3 0,-4 4 0,-2 0 982,-10 0-982,-7 0 0,32-1 0,6-1 0,-13 1-132,22-1 1,0 0 131,-20 2 0,12 0 137,-15 0-137,-11 0 0,2 0 0,-17 0 0,4 0 0,-7 0 823,8 0-823,11 0 0,14-1 0,14 0 0,-6-1 0,-13 2 0,1-1-329,14 0 1,8 0-1,-12 0 329,-4 1 0,-7 0 0,-11 0 0,-9 0 0,-4 0 0,7 0 0,-5 0 986,10 0-986,-4 0 0,0 0 0,-3 0 0,12 0 0,-18 0 0,11 0 0,-19 0 0,5 0 0,-3 0 0,2 0 0,-3 0 0,0 0 0,0 0 0,3 0 0,8 0 0,-2 0 0,2 0 0,-7 0 0,-4 2 0,0-1 0,-3 4 0,-4-29 0,0 21 0,-3-21 0</inkml:trace>
  <inkml:trace contextRef="#ctx0" brushRef="#br0" timeOffset="8052">25447 11542 24575,'61'0'0,"-28"0"0,1 0 0,0 0 0,-3 0 0,-4 0 0,5 0 0,0-4 0,0 3 0,6-2 0,-5-1 0,9 3 0,-9-2 0,4 3 0,-5 0 0,2 0 0,0 0 0,2 0 0,31 0 0,-44 0 0,3 0 0,1 0 0,-8 0 0,3 0 0,-9 0 0,1 0 0,-4 0 0,-1 0 0,-3 0 0,12 0 0,3 0 0,12 0 0,-1 0 0,0 0 0,0-4 0,0 3 0,-8-2 0,2-1 0,-15 3 0,2-2 0,-7 3 0,0 0 0,0 0 0,0 0 0,2-3 0,6 3 0,4-3 0,8 3 0,7-4 0,20 2 0,4-1 0,5-2-224,-8 3 0,-3 1 224,-15 1 0,-8 0 0,0 0 0,-2 0 0,-4 0 0,-4 0 0,3 0 448,-6 0-448,2 0 0,0 0 0,-2 0 0,31 0 0,-21 0 0,27 0 0,-23 0 0,-8 0 0,1 0 0,-11 0 0,-1 0 0,-1 0 0,-3 0 0,0 0 0,7 0 0,7 0 0,20 0 0,15 0 0,-6 0 0,-13 0 0,0 0-281,14 0 1,6 0 0,-10 0 280,-4 0 0,-14 0 0,-5 0 0,-9 0 0,-5 0 0,-3 0 0,0 0 841,-5 0-841,1-6 0,-7-1 0,4-25 0,-2 20 0,3-13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25E875B0-1877-1140-A1A5-68E92CBDE0F8}" type="datetimeFigureOut">
              <a:rPr lang="en-CN" smtClean="0"/>
              <a:t>2021/7/16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0C6A408-DCAC-8C4E-9928-0081EB56A0C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23475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5B0-1877-1140-A1A5-68E92CBDE0F8}" type="datetimeFigureOut">
              <a:rPr lang="en-CN" smtClean="0"/>
              <a:t>2021/7/16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A408-DCAC-8C4E-9928-0081EB56A0C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1423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5B0-1877-1140-A1A5-68E92CBDE0F8}" type="datetimeFigureOut">
              <a:rPr lang="en-CN" smtClean="0"/>
              <a:t>2021/7/16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A408-DCAC-8C4E-9928-0081EB56A0C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16514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5B0-1877-1140-A1A5-68E92CBDE0F8}" type="datetimeFigureOut">
              <a:rPr lang="en-CN" smtClean="0"/>
              <a:t>2021/7/16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A408-DCAC-8C4E-9928-0081EB56A0C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22417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5B0-1877-1140-A1A5-68E92CBDE0F8}" type="datetimeFigureOut">
              <a:rPr lang="en-CN" smtClean="0"/>
              <a:t>2021/7/16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A408-DCAC-8C4E-9928-0081EB56A0C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59986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5B0-1877-1140-A1A5-68E92CBDE0F8}" type="datetimeFigureOut">
              <a:rPr lang="en-CN" smtClean="0"/>
              <a:t>2021/7/16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A408-DCAC-8C4E-9928-0081EB56A0C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25428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5B0-1877-1140-A1A5-68E92CBDE0F8}" type="datetimeFigureOut">
              <a:rPr lang="en-CN" smtClean="0"/>
              <a:t>2021/7/16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A408-DCAC-8C4E-9928-0081EB56A0C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47249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5B0-1877-1140-A1A5-68E92CBDE0F8}" type="datetimeFigureOut">
              <a:rPr lang="en-CN" smtClean="0"/>
              <a:t>2021/7/16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A408-DCAC-8C4E-9928-0081EB56A0C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25777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5B0-1877-1140-A1A5-68E92CBDE0F8}" type="datetimeFigureOut">
              <a:rPr lang="en-CN" smtClean="0"/>
              <a:t>2021/7/16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A408-DCAC-8C4E-9928-0081EB56A0C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0459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5B0-1877-1140-A1A5-68E92CBDE0F8}" type="datetimeFigureOut">
              <a:rPr lang="en-CN" smtClean="0"/>
              <a:t>2021/7/16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A408-DCAC-8C4E-9928-0081EB56A0C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78969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5B0-1877-1140-A1A5-68E92CBDE0F8}" type="datetimeFigureOut">
              <a:rPr lang="en-CN" smtClean="0"/>
              <a:t>2021/7/16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A408-DCAC-8C4E-9928-0081EB56A0C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81402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5B0-1877-1140-A1A5-68E92CBDE0F8}" type="datetimeFigureOut">
              <a:rPr lang="en-CN" smtClean="0"/>
              <a:t>2021/7/16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A408-DCAC-8C4E-9928-0081EB56A0C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50336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5B0-1877-1140-A1A5-68E92CBDE0F8}" type="datetimeFigureOut">
              <a:rPr lang="en-CN" smtClean="0"/>
              <a:t>2021/7/16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A408-DCAC-8C4E-9928-0081EB56A0C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03486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5B0-1877-1140-A1A5-68E92CBDE0F8}" type="datetimeFigureOut">
              <a:rPr lang="en-CN" smtClean="0"/>
              <a:t>2021/7/16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A408-DCAC-8C4E-9928-0081EB56A0C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3805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5B0-1877-1140-A1A5-68E92CBDE0F8}" type="datetimeFigureOut">
              <a:rPr lang="en-CN" smtClean="0"/>
              <a:t>2021/7/16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A408-DCAC-8C4E-9928-0081EB56A0C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89708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5B0-1877-1140-A1A5-68E92CBDE0F8}" type="datetimeFigureOut">
              <a:rPr lang="en-CN" smtClean="0"/>
              <a:t>2021/7/16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A408-DCAC-8C4E-9928-0081EB56A0C9}" type="slidenum">
              <a:rPr lang="en-CN" smtClean="0"/>
              <a:t>‹#›</a:t>
            </a:fld>
            <a:endParaRPr lang="en-C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1269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5B0-1877-1140-A1A5-68E92CBDE0F8}" type="datetimeFigureOut">
              <a:rPr lang="en-CN" smtClean="0"/>
              <a:t>2021/7/16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A408-DCAC-8C4E-9928-0081EB56A0C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85065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5E875B0-1877-1140-A1A5-68E92CBDE0F8}" type="datetimeFigureOut">
              <a:rPr lang="en-CN" smtClean="0"/>
              <a:t>2021/7/16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0C6A408-DCAC-8C4E-9928-0081EB56A0C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03862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1EF03-40E6-8849-A1AD-4E7BBAD53D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N" sz="6600" dirty="0"/>
              <a:t>English 2 </a:t>
            </a:r>
            <a:br>
              <a:rPr lang="en-CN" sz="6600" dirty="0"/>
            </a:br>
            <a:r>
              <a:rPr lang="en-CN" sz="6600" dirty="0"/>
              <a:t>July 16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061E4-33D3-9247-81D5-270AD7368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N" sz="4800" dirty="0"/>
              <a:t>Max Keenan</a:t>
            </a:r>
          </a:p>
        </p:txBody>
      </p:sp>
    </p:spTree>
    <p:extLst>
      <p:ext uri="{BB962C8B-B14F-4D97-AF65-F5344CB8AC3E}">
        <p14:creationId xmlns:p14="http://schemas.microsoft.com/office/powerpoint/2010/main" val="2129910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7CD1C-CDDF-734E-9B9D-EAAA8F74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000" dirty="0"/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7FF32-7DE6-B24C-9413-200FB16B7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2787"/>
            <a:ext cx="10550471" cy="452550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CN" sz="4800" dirty="0"/>
              <a:t>Who is your favorite movie character and why?</a:t>
            </a:r>
          </a:p>
          <a:p>
            <a:pPr marL="0" indent="0">
              <a:buNone/>
            </a:pPr>
            <a:endParaRPr lang="en-CN" sz="4800" i="1" dirty="0"/>
          </a:p>
          <a:p>
            <a:pPr marL="0" indent="0">
              <a:buNone/>
            </a:pPr>
            <a:r>
              <a:rPr lang="en-CN" sz="4800" i="1" dirty="0"/>
              <a:t>Example: My favorite movie character is batman because he makes me feel like anyone can be a superhero. Also, he has a lot of cool gadgets and tools to help him fight bad guys. </a:t>
            </a:r>
          </a:p>
        </p:txBody>
      </p:sp>
    </p:spTree>
    <p:extLst>
      <p:ext uri="{BB962C8B-B14F-4D97-AF65-F5344CB8AC3E}">
        <p14:creationId xmlns:p14="http://schemas.microsoft.com/office/powerpoint/2010/main" val="433807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F29357-2226-6044-8FDB-3F5961162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964267"/>
            <a:ext cx="8874125" cy="2421464"/>
          </a:xfrm>
        </p:spPr>
        <p:txBody>
          <a:bodyPr/>
          <a:lstStyle/>
          <a:p>
            <a:r>
              <a:rPr lang="en-CN" dirty="0"/>
              <a:t>Vocabulary Choice Board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5BEA466-1E13-114B-A1E4-954C8D2ED0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12426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255E6-A81B-D94F-BF5D-C0AAC7727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1: Create 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6BCCD-48B3-364D-8512-93928F360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417759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Distress: when my rabbit is eaten</a:t>
            </a:r>
          </a:p>
          <a:p>
            <a:r>
              <a:rPr lang="en-US" sz="3200" dirty="0"/>
              <a:t>Improvement: want to be better</a:t>
            </a:r>
          </a:p>
          <a:p>
            <a:r>
              <a:rPr lang="en-US" sz="3200" dirty="0"/>
              <a:t>Disgust: when I see something disgusting</a:t>
            </a:r>
          </a:p>
          <a:p>
            <a:r>
              <a:rPr lang="en-US" sz="3200" dirty="0"/>
              <a:t>Suffocation: I can't breathe in the water when I swim</a:t>
            </a:r>
          </a:p>
          <a:p>
            <a:r>
              <a:rPr lang="en-US" sz="3200" dirty="0"/>
              <a:t>Listless: when I didn't sleep well last night</a:t>
            </a:r>
          </a:p>
          <a:p>
            <a:r>
              <a:rPr lang="en-US" sz="3200" dirty="0"/>
              <a:t>Pain: when I was injured in the ball</a:t>
            </a:r>
          </a:p>
          <a:p>
            <a:r>
              <a:rPr lang="en-US" sz="3200" dirty="0"/>
              <a:t>Outsider: when I go to someone else's wedding</a:t>
            </a:r>
          </a:p>
          <a:p>
            <a:r>
              <a:rPr lang="en-US" sz="3200" dirty="0"/>
              <a:t>Excluded: when they have anything full of me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097649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1CAFF-A864-5644-B2C3-CB6520EDF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2: Illustrations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E8981F-BD81-3A42-B0AC-694F225AAD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6200000">
            <a:off x="3741372" y="-23847"/>
            <a:ext cx="4709256" cy="837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729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A23DC-7C3F-1F47-8505-B7B0DE9ED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3: Riddle me this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4DA77C4-C813-BF43-ADC4-6036DB66F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1" y="2065867"/>
            <a:ext cx="10914945" cy="4182533"/>
          </a:xfrm>
        </p:spPr>
      </p:pic>
    </p:spTree>
    <p:extLst>
      <p:ext uri="{BB962C8B-B14F-4D97-AF65-F5344CB8AC3E}">
        <p14:creationId xmlns:p14="http://schemas.microsoft.com/office/powerpoint/2010/main" val="1950611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52832-E86C-6F4B-8D55-26404D2B9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4: Quiz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17AFD3-3495-CE42-81DD-D1E8C9AEFD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3587" y="742340"/>
            <a:ext cx="8602612" cy="5506060"/>
          </a:xfrm>
        </p:spPr>
      </p:pic>
    </p:spTree>
    <p:extLst>
      <p:ext uri="{BB962C8B-B14F-4D97-AF65-F5344CB8AC3E}">
        <p14:creationId xmlns:p14="http://schemas.microsoft.com/office/powerpoint/2010/main" val="1108608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8050-DB1C-C04B-B414-20171A3FB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5: Acrostic Poem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1D7C7-A7BD-1144-9256-BA2CF43F9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20312"/>
            <a:ext cx="10131425" cy="48199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N" sz="4000" dirty="0">
                <a:solidFill>
                  <a:srgbClr val="FFFF00"/>
                </a:solidFill>
              </a:rPr>
              <a:t>A </a:t>
            </a:r>
            <a:r>
              <a:rPr lang="en-CN" sz="4000" dirty="0"/>
              <a:t>void</a:t>
            </a:r>
            <a:endParaRPr lang="en-CN" sz="4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CN" sz="4000" dirty="0">
                <a:solidFill>
                  <a:srgbClr val="FFFF00"/>
                </a:solidFill>
              </a:rPr>
              <a:t>V </a:t>
            </a:r>
            <a:r>
              <a:rPr lang="en-CN" sz="4000" dirty="0"/>
              <a:t>iolins</a:t>
            </a:r>
            <a:endParaRPr lang="en-CN" sz="4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CN" sz="4000" dirty="0">
                <a:solidFill>
                  <a:srgbClr val="FFFF00"/>
                </a:solidFill>
              </a:rPr>
              <a:t>E </a:t>
            </a:r>
            <a:r>
              <a:rPr lang="en-CN" sz="4000" dirty="0"/>
              <a:t>very</a:t>
            </a:r>
            <a:endParaRPr lang="en-CN" sz="4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CN" sz="4000" dirty="0">
                <a:solidFill>
                  <a:srgbClr val="FFFF00"/>
                </a:solidFill>
              </a:rPr>
              <a:t>R </a:t>
            </a:r>
            <a:r>
              <a:rPr lang="en-CN" sz="4000" dirty="0"/>
              <a:t>ound</a:t>
            </a:r>
            <a:endParaRPr lang="en-CN" sz="4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CN" sz="4000" dirty="0">
                <a:solidFill>
                  <a:srgbClr val="FFFF00"/>
                </a:solidFill>
              </a:rPr>
              <a:t>S </a:t>
            </a:r>
            <a:r>
              <a:rPr lang="en-CN" sz="4000" dirty="0"/>
              <a:t>un</a:t>
            </a:r>
            <a:endParaRPr lang="en-CN" sz="4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CN" sz="4000" dirty="0">
                <a:solidFill>
                  <a:srgbClr val="FFFF00"/>
                </a:solidFill>
              </a:rPr>
              <a:t>I </a:t>
            </a:r>
            <a:r>
              <a:rPr lang="en-CN" sz="4000" dirty="0"/>
              <a:t>s</a:t>
            </a:r>
            <a:endParaRPr lang="en-CN" sz="4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CN" sz="4000" dirty="0">
                <a:solidFill>
                  <a:srgbClr val="FFFF00"/>
                </a:solidFill>
              </a:rPr>
              <a:t>O </a:t>
            </a:r>
            <a:r>
              <a:rPr lang="en-CN" sz="4000" dirty="0"/>
              <a:t>verly</a:t>
            </a:r>
            <a:endParaRPr lang="en-CN" sz="4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CN" sz="4000" dirty="0">
                <a:solidFill>
                  <a:srgbClr val="FFFF00"/>
                </a:solidFill>
              </a:rPr>
              <a:t>N </a:t>
            </a:r>
            <a:r>
              <a:rPr lang="en-CN" sz="4000" dirty="0"/>
              <a:t>oxious</a:t>
            </a:r>
            <a:endParaRPr lang="en-CN" sz="4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113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F2A1F-5932-574B-BDEF-183717E39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6: The same and the opposite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A34848-BFD8-6B40-BEA1-CF24789923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5393" y="1748682"/>
            <a:ext cx="6261214" cy="4869834"/>
          </a:xfrm>
        </p:spPr>
      </p:pic>
    </p:spTree>
    <p:extLst>
      <p:ext uri="{BB962C8B-B14F-4D97-AF65-F5344CB8AC3E}">
        <p14:creationId xmlns:p14="http://schemas.microsoft.com/office/powerpoint/2010/main" val="3782283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69A7-9336-C84A-92C8-44E4EC64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7: Sort 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F67681-C192-E842-90FA-5BDFFE80C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65" y="2065867"/>
            <a:ext cx="12058670" cy="2943455"/>
          </a:xfrm>
        </p:spPr>
      </p:pic>
    </p:spTree>
    <p:extLst>
      <p:ext uri="{BB962C8B-B14F-4D97-AF65-F5344CB8AC3E}">
        <p14:creationId xmlns:p14="http://schemas.microsoft.com/office/powerpoint/2010/main" val="4024681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73677-E106-D442-9B76-552F49FB0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8: Write a story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777B2E-D43E-3140-AD06-299727A5B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1" y="2065867"/>
            <a:ext cx="11037254" cy="396345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B774D71-F1EE-C645-AD78-527B5F495CBF}"/>
                  </a:ext>
                </a:extLst>
              </p14:cNvPr>
              <p14:cNvContentPartPr/>
              <p14:nvPr/>
            </p14:nvContentPartPr>
            <p14:xfrm>
              <a:off x="2658960" y="3069720"/>
              <a:ext cx="1737720" cy="2199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B774D71-F1EE-C645-AD78-527B5F495C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49600" y="3060360"/>
                <a:ext cx="1756440" cy="221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8925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EAE6D-ABF8-7948-B5DF-4596754A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9: Write an article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C0A27E-55F6-8D44-8858-9FF7BBFE6A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8015" y="2294467"/>
            <a:ext cx="10615970" cy="327765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E39FD16-3941-874C-83EC-12E014AF6EEF}"/>
                  </a:ext>
                </a:extLst>
              </p14:cNvPr>
              <p14:cNvContentPartPr/>
              <p14:nvPr/>
            </p14:nvContentPartPr>
            <p14:xfrm>
              <a:off x="4449960" y="3255120"/>
              <a:ext cx="5631840" cy="900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E39FD16-3941-874C-83EC-12E014AF6E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40600" y="3245760"/>
                <a:ext cx="5650560" cy="9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5561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93F86-9CB4-E745-A8B8-B8516BD55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10: Super Sentences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108887-E14A-304F-B39B-6374180C9D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577" y="1981200"/>
            <a:ext cx="8277872" cy="4716462"/>
          </a:xfrm>
        </p:spPr>
      </p:pic>
    </p:spTree>
    <p:extLst>
      <p:ext uri="{BB962C8B-B14F-4D97-AF65-F5344CB8AC3E}">
        <p14:creationId xmlns:p14="http://schemas.microsoft.com/office/powerpoint/2010/main" val="281727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2E564-164C-2F48-852E-8A5D75EED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11: In your own words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81F01A-A2BA-934D-91C2-69D93D7167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0758" y="1726500"/>
            <a:ext cx="7830484" cy="4972474"/>
          </a:xfrm>
        </p:spPr>
      </p:pic>
    </p:spTree>
    <p:extLst>
      <p:ext uri="{BB962C8B-B14F-4D97-AF65-F5344CB8AC3E}">
        <p14:creationId xmlns:p14="http://schemas.microsoft.com/office/powerpoint/2010/main" val="3221877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830EE-29B9-4043-88F8-70D2086D2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77687"/>
            <a:ext cx="10131425" cy="1456267"/>
          </a:xfrm>
        </p:spPr>
        <p:txBody>
          <a:bodyPr/>
          <a:lstStyle/>
          <a:p>
            <a:r>
              <a:rPr lang="en-CN" dirty="0"/>
              <a:t>12: Comic strip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8D528C-B2EC-7549-AD46-6A279222FF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6200000">
            <a:off x="3436413" y="-1794342"/>
            <a:ext cx="5319173" cy="1182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83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4514CA-C43F-534C-BFEC-62BCB271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000" dirty="0"/>
              <a:t>Types of phrases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1B5E0-4C7D-B74C-8A08-BBECB1C0A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59482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56412A-670C-C947-A18D-CCA171534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N" sz="6000" dirty="0"/>
              <a:t>Verb phrase (page 183): REVIEw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EC7F3F-E749-2B47-8335-11FE93757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1230896" cy="4425881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M</a:t>
            </a:r>
            <a:r>
              <a:rPr lang="en-CN" sz="3600" dirty="0"/>
              <a:t>etalanguage = are words used to talk about language. </a:t>
            </a:r>
            <a:r>
              <a:rPr lang="en-US" sz="3600" dirty="0"/>
              <a:t>W</a:t>
            </a:r>
            <a:r>
              <a:rPr lang="en-CN" sz="3600" dirty="0"/>
              <a:t>ords that describe language. </a:t>
            </a:r>
          </a:p>
          <a:p>
            <a:pPr lvl="1"/>
            <a:r>
              <a:rPr lang="en-CN" sz="3400" dirty="0"/>
              <a:t>“noun” “verb” “grammar” </a:t>
            </a:r>
          </a:p>
          <a:p>
            <a:r>
              <a:rPr lang="en-CN" sz="3600" dirty="0"/>
              <a:t>Verbs (3 kinds):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N" sz="3400" dirty="0"/>
              <a:t>Action Verbs = words about movement/what people do.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N" sz="3400" dirty="0"/>
              <a:t>Linking Verbs = connects parts of a sentence (be,…).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N" sz="3400" dirty="0"/>
              <a:t>Helping Verbs (auxiliary verbs) = works together with an action verb to make the sentence clearer. ADDS meaning. </a:t>
            </a:r>
          </a:p>
        </p:txBody>
      </p:sp>
    </p:spTree>
    <p:extLst>
      <p:ext uri="{BB962C8B-B14F-4D97-AF65-F5344CB8AC3E}">
        <p14:creationId xmlns:p14="http://schemas.microsoft.com/office/powerpoint/2010/main" val="2107706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2A5CA-E0DA-6E4D-8FC6-5ACC3E555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sz="5400" dirty="0">
                <a:solidFill>
                  <a:prstClr val="white"/>
                </a:solidFill>
              </a:rPr>
              <a:t>Verb phrase (page 183):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E3807-2D59-EB49-BE2F-FFE284616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CN" sz="4000" dirty="0"/>
              <a:t>A verb phrase has </a:t>
            </a:r>
            <a:r>
              <a:rPr lang="en-CN" sz="4000" dirty="0">
                <a:solidFill>
                  <a:srgbClr val="FF0000"/>
                </a:solidFill>
              </a:rPr>
              <a:t>a main verb and one or more helping verbs. </a:t>
            </a:r>
            <a:endParaRPr lang="en-CN" sz="4000" dirty="0"/>
          </a:p>
          <a:p>
            <a:r>
              <a:rPr lang="en-CN" sz="4000" dirty="0"/>
              <a:t>A helping verb </a:t>
            </a:r>
            <a:r>
              <a:rPr lang="en-CN" sz="4000" dirty="0">
                <a:solidFill>
                  <a:srgbClr val="FF0000"/>
                </a:solidFill>
              </a:rPr>
              <a:t>provides more information like verb tense, mood, voice</a:t>
            </a:r>
            <a:r>
              <a:rPr lang="en-CN" sz="4000" dirty="0"/>
              <a:t> in a verb phrase</a:t>
            </a:r>
          </a:p>
          <a:p>
            <a:r>
              <a:rPr lang="en-CN" sz="4000" dirty="0"/>
              <a:t>Common helping verbs are </a:t>
            </a:r>
            <a:r>
              <a:rPr lang="en-CN" sz="4000" dirty="0">
                <a:solidFill>
                  <a:srgbClr val="FF0000"/>
                </a:solidFill>
              </a:rPr>
              <a:t>be, do, have, will, may, can, shall, must. </a:t>
            </a:r>
          </a:p>
          <a:p>
            <a:r>
              <a:rPr lang="en-CN" sz="4000" dirty="0"/>
              <a:t>A verb phrase is ONLY the verbs, even if there is an aadverb inbetween it doesn’t count as part of the verb phrase. </a:t>
            </a:r>
          </a:p>
        </p:txBody>
      </p:sp>
    </p:spTree>
    <p:extLst>
      <p:ext uri="{BB962C8B-B14F-4D97-AF65-F5344CB8AC3E}">
        <p14:creationId xmlns:p14="http://schemas.microsoft.com/office/powerpoint/2010/main" val="109767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B743B-919C-984A-96C6-66599DF36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Infinitive and Infinitive phrase (page 244)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F51D5-FFE5-F648-BAC0-51A4AEB0A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/>
              <a:t>I</a:t>
            </a:r>
            <a:r>
              <a:rPr lang="en-CN" sz="4000" dirty="0"/>
              <a:t>nfinitive is a verb after the word “to” and it acts like a noun, adjective, or adverb. </a:t>
            </a:r>
          </a:p>
          <a:p>
            <a:pPr lvl="1"/>
            <a:r>
              <a:rPr lang="en-US" sz="3800" i="1" dirty="0">
                <a:solidFill>
                  <a:srgbClr val="FF0000"/>
                </a:solidFill>
              </a:rPr>
              <a:t>t</a:t>
            </a:r>
            <a:r>
              <a:rPr lang="en-CN" sz="3800" i="1" dirty="0">
                <a:solidFill>
                  <a:srgbClr val="FF0000"/>
                </a:solidFill>
              </a:rPr>
              <a:t>o swim</a:t>
            </a:r>
          </a:p>
          <a:p>
            <a:r>
              <a:rPr lang="en-CN" sz="4000" dirty="0">
                <a:solidFill>
                  <a:srgbClr val="FF0000"/>
                </a:solidFill>
              </a:rPr>
              <a:t> </a:t>
            </a:r>
            <a:r>
              <a:rPr lang="en-CN" sz="4000" dirty="0"/>
              <a:t>Infinitive phrase is the word “to,” a verb, and everything after. This makes one part of speech. </a:t>
            </a:r>
          </a:p>
        </p:txBody>
      </p:sp>
    </p:spTree>
    <p:extLst>
      <p:ext uri="{BB962C8B-B14F-4D97-AF65-F5344CB8AC3E}">
        <p14:creationId xmlns:p14="http://schemas.microsoft.com/office/powerpoint/2010/main" val="27908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E1644-8EA8-184E-B915-DDAF98B6A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N" sz="4800" dirty="0"/>
              <a:t>Explanatory Essay Update (Gothic/Magical Realism)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B96BD-C4B1-3B4D-A802-1123F9C13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1300790" cy="4457516"/>
          </a:xfrm>
        </p:spPr>
        <p:txBody>
          <a:bodyPr>
            <a:normAutofit fontScale="70000" lnSpcReduction="20000"/>
          </a:bodyPr>
          <a:lstStyle/>
          <a:p>
            <a:r>
              <a:rPr lang="en-CN" sz="6000" dirty="0"/>
              <a:t>3 students have not turned in their paper…</a:t>
            </a:r>
          </a:p>
          <a:p>
            <a:pPr marL="0" indent="0">
              <a:buNone/>
            </a:pPr>
            <a:r>
              <a:rPr lang="en-CN" sz="6000" dirty="0"/>
              <a:t> </a:t>
            </a:r>
          </a:p>
          <a:p>
            <a:r>
              <a:rPr lang="en-CN" sz="6000" dirty="0"/>
              <a:t>I will send back your grades this weekend. </a:t>
            </a:r>
          </a:p>
          <a:p>
            <a:pPr lvl="1"/>
            <a:r>
              <a:rPr lang="en-CN" sz="5800" dirty="0"/>
              <a:t>A: You like your grade, you are done.</a:t>
            </a:r>
          </a:p>
          <a:p>
            <a:pPr lvl="1"/>
            <a:r>
              <a:rPr lang="en-CN" sz="5800" dirty="0"/>
              <a:t>B: You DON’T like your grade, you can rewrite the paper (make adjustments according to my comments). </a:t>
            </a:r>
          </a:p>
        </p:txBody>
      </p:sp>
    </p:spTree>
    <p:extLst>
      <p:ext uri="{BB962C8B-B14F-4D97-AF65-F5344CB8AC3E}">
        <p14:creationId xmlns:p14="http://schemas.microsoft.com/office/powerpoint/2010/main" val="2545977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86C9-BA18-6B40-B864-19E1E0AF6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CN" dirty="0"/>
              <a:t>utsiders/outcasts essay and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83E3F-15B1-A04E-88AE-C815E7EE6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N" sz="4000" dirty="0"/>
              <a:t>Follow the writing guide to write your essay.</a:t>
            </a:r>
          </a:p>
          <a:p>
            <a:r>
              <a:rPr lang="en-CN" sz="4000" dirty="0"/>
              <a:t>Prepare a short presentation about your essay for </a:t>
            </a:r>
            <a:r>
              <a:rPr lang="en-US" sz="4000" dirty="0"/>
              <a:t>M</a:t>
            </a:r>
            <a:r>
              <a:rPr lang="en-CN" sz="4000" dirty="0"/>
              <a:t>onday in class. </a:t>
            </a:r>
          </a:p>
          <a:p>
            <a:r>
              <a:rPr lang="en-CN" sz="4000" dirty="0"/>
              <a:t>Presentation can be a PPT, Speech, anything you like. </a:t>
            </a:r>
          </a:p>
        </p:txBody>
      </p:sp>
    </p:spTree>
    <p:extLst>
      <p:ext uri="{BB962C8B-B14F-4D97-AF65-F5344CB8AC3E}">
        <p14:creationId xmlns:p14="http://schemas.microsoft.com/office/powerpoint/2010/main" val="1397322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1B2BA0-9554-DB46-B3F9-BC436CDC5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677" y="0"/>
            <a:ext cx="67226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617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1D6642-F70B-1D49-8F5A-48E3CAE0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Example presentation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93ECB2-CE1E-A240-BB7D-574A4D180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224206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{9DA66E8A-3306-9D43-A9CE-5AC7F8C8DA05}tf10001058</Template>
  <TotalTime>227</TotalTime>
  <Words>522</Words>
  <Application>Microsoft Macintosh PowerPoint</Application>
  <PresentationFormat>Widescreen</PresentationFormat>
  <Paragraphs>63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Celestial</vt:lpstr>
      <vt:lpstr>English 2  July 16</vt:lpstr>
      <vt:lpstr>Attendance</vt:lpstr>
      <vt:lpstr>Vocabulary Choice Board</vt:lpstr>
      <vt:lpstr>1: Create Connections</vt:lpstr>
      <vt:lpstr>2: Illustrations</vt:lpstr>
      <vt:lpstr>3: Riddle me this</vt:lpstr>
      <vt:lpstr>4: Quiz</vt:lpstr>
      <vt:lpstr>5: Acrostic Poem</vt:lpstr>
      <vt:lpstr>6: The same and the opposite</vt:lpstr>
      <vt:lpstr>7: Sort it</vt:lpstr>
      <vt:lpstr>8: Write a story</vt:lpstr>
      <vt:lpstr>9: Write an article</vt:lpstr>
      <vt:lpstr>10: Super Sentences</vt:lpstr>
      <vt:lpstr>11: In your own words</vt:lpstr>
      <vt:lpstr>12: Comic strip</vt:lpstr>
      <vt:lpstr>Types of phrases</vt:lpstr>
      <vt:lpstr>Verb phrase (page 183): REVIEw</vt:lpstr>
      <vt:lpstr>Verb phrase (page 183):</vt:lpstr>
      <vt:lpstr>Infinitive and Infinitive phrase (page 244)</vt:lpstr>
      <vt:lpstr>Explanatory Essay Update (Gothic/Magical Realism) </vt:lpstr>
      <vt:lpstr>Outsiders/outcasts essay and presentation</vt:lpstr>
      <vt:lpstr>PowerPoint Presentation</vt:lpstr>
      <vt:lpstr>Example presentation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2  July 16</dc:title>
  <dc:creator>maxqkeenan@gmail.com</dc:creator>
  <cp:lastModifiedBy>maxqkeenan@gmail.com</cp:lastModifiedBy>
  <cp:revision>14</cp:revision>
  <dcterms:created xsi:type="dcterms:W3CDTF">2021-07-15T07:25:20Z</dcterms:created>
  <dcterms:modified xsi:type="dcterms:W3CDTF">2021-07-16T03:52:54Z</dcterms:modified>
</cp:coreProperties>
</file>