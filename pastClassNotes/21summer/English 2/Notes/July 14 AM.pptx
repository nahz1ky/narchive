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7" r:id="rId2"/>
    <p:sldId id="264" r:id="rId3"/>
    <p:sldId id="258" r:id="rId4"/>
    <p:sldId id="267" r:id="rId5"/>
    <p:sldId id="268" r:id="rId6"/>
    <p:sldId id="269" r:id="rId7"/>
    <p:sldId id="270" r:id="rId8"/>
    <p:sldId id="271" r:id="rId9"/>
    <p:sldId id="272" r:id="rId10"/>
    <p:sldId id="27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6508"/>
    <p:restoredTop sz="94629"/>
  </p:normalViewPr>
  <p:slideViewPr>
    <p:cSldViewPr snapToGrid="0" snapToObjects="1">
      <p:cViewPr varScale="1">
        <p:scale>
          <a:sx n="37" d="100"/>
          <a:sy n="37" d="100"/>
        </p:scale>
        <p:origin x="216" y="18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a:xfrm>
            <a:off x="3962399" y="5870575"/>
            <a:ext cx="4893958" cy="377825"/>
          </a:xfrm>
        </p:spPr>
        <p:txBody>
          <a:bodyPr/>
          <a:lstStyle/>
          <a:p>
            <a:endParaRPr lang="en-CN"/>
          </a:p>
        </p:txBody>
      </p:sp>
      <p:sp>
        <p:nvSpPr>
          <p:cNvPr id="6" name="Slide Number Placeholder 5"/>
          <p:cNvSpPr>
            <a:spLocks noGrp="1"/>
          </p:cNvSpPr>
          <p:nvPr>
            <p:ph type="sldNum" sz="quarter" idx="12"/>
          </p:nvPr>
        </p:nvSpPr>
        <p:spPr>
          <a:xfrm>
            <a:off x="10608958" y="5870575"/>
            <a:ext cx="551167" cy="377825"/>
          </a:xfrm>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18510543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1459294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2418980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EAECD0-3951-524B-893C-5571C9F3AE94}" type="datetimeFigureOut">
              <a:rPr lang="en-CN" smtClean="0"/>
              <a:t>2021/7/14</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181931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EAECD0-3951-524B-893C-5571C9F3AE94}" type="datetimeFigureOut">
              <a:rPr lang="en-CN" smtClean="0"/>
              <a:t>2021/7/14</a:t>
            </a:fld>
            <a:endParaRPr lang="en-CN"/>
          </a:p>
        </p:txBody>
      </p:sp>
      <p:sp>
        <p:nvSpPr>
          <p:cNvPr id="8" name="Footer Placeholder 7"/>
          <p:cNvSpPr>
            <a:spLocks noGrp="1"/>
          </p:cNvSpPr>
          <p:nvPr>
            <p:ph type="ftr" sz="quarter" idx="11"/>
          </p:nvPr>
        </p:nvSpPr>
        <p:spPr/>
        <p:txBody>
          <a:bodyPr/>
          <a:lstStyle/>
          <a:p>
            <a:endParaRPr lang="en-CN"/>
          </a:p>
        </p:txBody>
      </p:sp>
      <p:sp>
        <p:nvSpPr>
          <p:cNvPr id="9" name="Slide Number Placeholder 8"/>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2584629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EAECD0-3951-524B-893C-5571C9F3AE94}" type="datetimeFigureOut">
              <a:rPr lang="en-CN" smtClean="0"/>
              <a:t>2021/7/14</a:t>
            </a:fld>
            <a:endParaRPr lang="en-CN"/>
          </a:p>
        </p:txBody>
      </p:sp>
      <p:sp>
        <p:nvSpPr>
          <p:cNvPr id="4" name="Footer Placeholder 3"/>
          <p:cNvSpPr>
            <a:spLocks noGrp="1"/>
          </p:cNvSpPr>
          <p:nvPr>
            <p:ph type="ftr" sz="quarter" idx="11"/>
          </p:nvPr>
        </p:nvSpPr>
        <p:spPr/>
        <p:txBody>
          <a:bodyPr/>
          <a:lstStyle/>
          <a:p>
            <a:endParaRPr lang="en-CN"/>
          </a:p>
        </p:txBody>
      </p:sp>
      <p:sp>
        <p:nvSpPr>
          <p:cNvPr id="5" name="Slide Number Placeholder 4"/>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2038197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FAEAECD0-3951-524B-893C-5571C9F3AE94}" type="datetimeFigureOut">
              <a:rPr lang="en-CN" smtClean="0"/>
              <a:t>2021/7/14</a:t>
            </a:fld>
            <a:endParaRPr lang="en-CN"/>
          </a:p>
        </p:txBody>
      </p:sp>
      <p:sp>
        <p:nvSpPr>
          <p:cNvPr id="3" name="Footer Placeholder 2"/>
          <p:cNvSpPr>
            <a:spLocks noGrp="1"/>
          </p:cNvSpPr>
          <p:nvPr>
            <p:ph type="ftr" sz="quarter" idx="11"/>
          </p:nvPr>
        </p:nvSpPr>
        <p:spPr/>
        <p:txBody>
          <a:bodyPr/>
          <a:lstStyle/>
          <a:p>
            <a:endParaRPr lang="en-CN"/>
          </a:p>
        </p:txBody>
      </p:sp>
      <p:sp>
        <p:nvSpPr>
          <p:cNvPr id="4" name="Slide Number Placeholder 3"/>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1701464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EAECD0-3951-524B-893C-5571C9F3AE94}" type="datetimeFigureOut">
              <a:rPr lang="en-CN" smtClean="0"/>
              <a:t>2021/7/14</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3975051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EAECD0-3951-524B-893C-5571C9F3AE94}" type="datetimeFigureOut">
              <a:rPr lang="en-CN" smtClean="0"/>
              <a:t>2021/7/14</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393679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EAECD0-3951-524B-893C-5571C9F3AE94}" type="datetimeFigureOut">
              <a:rPr lang="en-CN" smtClean="0"/>
              <a:t>2021/7/14</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241210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3203290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765209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4103588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3491850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66863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4217356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EAECD0-3951-524B-893C-5571C9F3AE94}" type="datetimeFigureOut">
              <a:rPr lang="en-CN" smtClean="0"/>
              <a:t>2021/7/14</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9B3BCEDA-3DB6-284A-BD18-24DE8350C223}" type="slidenum">
              <a:rPr lang="en-CN" smtClean="0"/>
              <a:t>‹#›</a:t>
            </a:fld>
            <a:endParaRPr lang="en-CN"/>
          </a:p>
        </p:txBody>
      </p:sp>
    </p:spTree>
    <p:extLst>
      <p:ext uri="{BB962C8B-B14F-4D97-AF65-F5344CB8AC3E}">
        <p14:creationId xmlns:p14="http://schemas.microsoft.com/office/powerpoint/2010/main" val="85376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AEAECD0-3951-524B-893C-5571C9F3AE94}" type="datetimeFigureOut">
              <a:rPr lang="en-CN" smtClean="0"/>
              <a:t>2021/7/14</a:t>
            </a:fld>
            <a:endParaRPr lang="en-C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C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B3BCEDA-3DB6-284A-BD18-24DE8350C223}" type="slidenum">
              <a:rPr lang="en-CN" smtClean="0"/>
              <a:t>‹#›</a:t>
            </a:fld>
            <a:endParaRPr lang="en-CN"/>
          </a:p>
        </p:txBody>
      </p:sp>
    </p:spTree>
    <p:extLst>
      <p:ext uri="{BB962C8B-B14F-4D97-AF65-F5344CB8AC3E}">
        <p14:creationId xmlns:p14="http://schemas.microsoft.com/office/powerpoint/2010/main" val="3597399450"/>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1EF03-40E6-8849-A1AD-4E7BBAD53DD7}"/>
              </a:ext>
            </a:extLst>
          </p:cNvPr>
          <p:cNvSpPr>
            <a:spLocks noGrp="1"/>
          </p:cNvSpPr>
          <p:nvPr>
            <p:ph type="ctrTitle"/>
          </p:nvPr>
        </p:nvSpPr>
        <p:spPr/>
        <p:txBody>
          <a:bodyPr>
            <a:normAutofit/>
          </a:bodyPr>
          <a:lstStyle/>
          <a:p>
            <a:r>
              <a:rPr lang="en-CN" sz="6600" dirty="0"/>
              <a:t>English 2 </a:t>
            </a:r>
            <a:br>
              <a:rPr lang="en-CN" sz="6600" dirty="0"/>
            </a:br>
            <a:r>
              <a:rPr lang="en-CN" sz="6600" dirty="0"/>
              <a:t>July 14</a:t>
            </a:r>
          </a:p>
        </p:txBody>
      </p:sp>
      <p:sp>
        <p:nvSpPr>
          <p:cNvPr id="3" name="Subtitle 2">
            <a:extLst>
              <a:ext uri="{FF2B5EF4-FFF2-40B4-BE49-F238E27FC236}">
                <a16:creationId xmlns:a16="http://schemas.microsoft.com/office/drawing/2014/main" id="{0A6061E4-33D3-9247-81D5-270AD7368C04}"/>
              </a:ext>
            </a:extLst>
          </p:cNvPr>
          <p:cNvSpPr>
            <a:spLocks noGrp="1"/>
          </p:cNvSpPr>
          <p:nvPr>
            <p:ph type="subTitle" idx="1"/>
          </p:nvPr>
        </p:nvSpPr>
        <p:spPr/>
        <p:txBody>
          <a:bodyPr>
            <a:normAutofit/>
          </a:bodyPr>
          <a:lstStyle/>
          <a:p>
            <a:r>
              <a:rPr lang="en-CN" sz="4800" dirty="0"/>
              <a:t>Max Keenan</a:t>
            </a:r>
          </a:p>
        </p:txBody>
      </p:sp>
    </p:spTree>
    <p:extLst>
      <p:ext uri="{BB962C8B-B14F-4D97-AF65-F5344CB8AC3E}">
        <p14:creationId xmlns:p14="http://schemas.microsoft.com/office/powerpoint/2010/main" val="1559297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CD1C-CDDF-734E-9B9D-EAAA8F749EAA}"/>
              </a:ext>
            </a:extLst>
          </p:cNvPr>
          <p:cNvSpPr>
            <a:spLocks noGrp="1"/>
          </p:cNvSpPr>
          <p:nvPr>
            <p:ph type="title"/>
          </p:nvPr>
        </p:nvSpPr>
        <p:spPr/>
        <p:txBody>
          <a:bodyPr>
            <a:normAutofit/>
          </a:bodyPr>
          <a:lstStyle/>
          <a:p>
            <a:r>
              <a:rPr lang="en-CN" sz="6000" dirty="0"/>
              <a:t>Attendance</a:t>
            </a:r>
          </a:p>
        </p:txBody>
      </p:sp>
      <p:sp>
        <p:nvSpPr>
          <p:cNvPr id="3" name="Content Placeholder 2">
            <a:extLst>
              <a:ext uri="{FF2B5EF4-FFF2-40B4-BE49-F238E27FC236}">
                <a16:creationId xmlns:a16="http://schemas.microsoft.com/office/drawing/2014/main" id="{27F7FF32-7DE6-B24C-9413-200FB16B7C03}"/>
              </a:ext>
            </a:extLst>
          </p:cNvPr>
          <p:cNvSpPr>
            <a:spLocks noGrp="1"/>
          </p:cNvSpPr>
          <p:nvPr>
            <p:ph idx="1"/>
          </p:nvPr>
        </p:nvSpPr>
        <p:spPr/>
        <p:txBody>
          <a:bodyPr>
            <a:normAutofit/>
          </a:bodyPr>
          <a:lstStyle/>
          <a:p>
            <a:pPr marL="0" indent="0">
              <a:buNone/>
            </a:pPr>
            <a:r>
              <a:rPr lang="en-CN" sz="6000" dirty="0"/>
              <a:t>If you had to be born in any country other than China, what country would you pick? Why?</a:t>
            </a:r>
          </a:p>
          <a:p>
            <a:pPr marL="0" indent="0">
              <a:buNone/>
            </a:pPr>
            <a:endParaRPr lang="en-CN" sz="4800" dirty="0"/>
          </a:p>
        </p:txBody>
      </p:sp>
    </p:spTree>
    <p:extLst>
      <p:ext uri="{BB962C8B-B14F-4D97-AF65-F5344CB8AC3E}">
        <p14:creationId xmlns:p14="http://schemas.microsoft.com/office/powerpoint/2010/main" val="1751569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6D7CE-CBE1-5343-A69B-59450C6D8E20}"/>
              </a:ext>
            </a:extLst>
          </p:cNvPr>
          <p:cNvSpPr>
            <a:spLocks noGrp="1"/>
          </p:cNvSpPr>
          <p:nvPr>
            <p:ph type="title"/>
          </p:nvPr>
        </p:nvSpPr>
        <p:spPr/>
        <p:txBody>
          <a:bodyPr>
            <a:normAutofit/>
          </a:bodyPr>
          <a:lstStyle/>
          <a:p>
            <a:r>
              <a:rPr lang="en-CN" sz="6000" dirty="0"/>
              <a:t>The Metamorphosis</a:t>
            </a:r>
          </a:p>
        </p:txBody>
      </p:sp>
      <p:pic>
        <p:nvPicPr>
          <p:cNvPr id="1026" name="Picture 2" descr="Image result for the metamorphosis by kafka">
            <a:extLst>
              <a:ext uri="{FF2B5EF4-FFF2-40B4-BE49-F238E27FC236}">
                <a16:creationId xmlns:a16="http://schemas.microsoft.com/office/drawing/2014/main" id="{135DD248-D3BB-314E-9354-2586C92B55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072" y="2165160"/>
            <a:ext cx="4247059" cy="42691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the metamorphosis by kafka">
            <a:extLst>
              <a:ext uri="{FF2B5EF4-FFF2-40B4-BE49-F238E27FC236}">
                <a16:creationId xmlns:a16="http://schemas.microsoft.com/office/drawing/2014/main" id="{A9646B3A-01E1-B848-8E23-BBA7E8F099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4870" y="1873239"/>
            <a:ext cx="3031650" cy="4642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7230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45EE3-DD2E-E04F-8954-A5C24C0086A2}"/>
              </a:ext>
            </a:extLst>
          </p:cNvPr>
          <p:cNvSpPr>
            <a:spLocks noGrp="1"/>
          </p:cNvSpPr>
          <p:nvPr>
            <p:ph type="title"/>
          </p:nvPr>
        </p:nvSpPr>
        <p:spPr/>
        <p:txBody>
          <a:bodyPr>
            <a:normAutofit/>
          </a:bodyPr>
          <a:lstStyle/>
          <a:p>
            <a:r>
              <a:rPr lang="en-US" b="1" dirty="0"/>
              <a:t>Why doesn't Gregor drink the milk his sister leaves for him?</a:t>
            </a:r>
            <a:endParaRPr lang="en-CN" b="1" dirty="0"/>
          </a:p>
        </p:txBody>
      </p:sp>
      <p:sp>
        <p:nvSpPr>
          <p:cNvPr id="3" name="Content Placeholder 2">
            <a:extLst>
              <a:ext uri="{FF2B5EF4-FFF2-40B4-BE49-F238E27FC236}">
                <a16:creationId xmlns:a16="http://schemas.microsoft.com/office/drawing/2014/main" id="{70B22D68-2320-914C-8968-39061111882B}"/>
              </a:ext>
            </a:extLst>
          </p:cNvPr>
          <p:cNvSpPr>
            <a:spLocks noGrp="1"/>
          </p:cNvSpPr>
          <p:nvPr>
            <p:ph idx="1"/>
          </p:nvPr>
        </p:nvSpPr>
        <p:spPr>
          <a:xfrm>
            <a:off x="685801" y="2142067"/>
            <a:ext cx="10131425" cy="4325640"/>
          </a:xfrm>
        </p:spPr>
        <p:txBody>
          <a:bodyPr>
            <a:normAutofit fontScale="92500"/>
          </a:bodyPr>
          <a:lstStyle/>
          <a:p>
            <a:r>
              <a:rPr lang="en-US" sz="5400" dirty="0"/>
              <a:t>Gregor finds it hard to eat anything with the soreness and tenderness in his side, and the sight of the milk only repulses him, even though it has always been his favorite drink.</a:t>
            </a:r>
            <a:endParaRPr lang="en-CN" sz="5400" dirty="0"/>
          </a:p>
        </p:txBody>
      </p:sp>
    </p:spTree>
    <p:extLst>
      <p:ext uri="{BB962C8B-B14F-4D97-AF65-F5344CB8AC3E}">
        <p14:creationId xmlns:p14="http://schemas.microsoft.com/office/powerpoint/2010/main" val="294326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8D28A-AFB2-9545-A109-5326E468BA44}"/>
              </a:ext>
            </a:extLst>
          </p:cNvPr>
          <p:cNvSpPr>
            <a:spLocks noGrp="1"/>
          </p:cNvSpPr>
          <p:nvPr>
            <p:ph type="title"/>
          </p:nvPr>
        </p:nvSpPr>
        <p:spPr/>
        <p:txBody>
          <a:bodyPr/>
          <a:lstStyle/>
          <a:p>
            <a:r>
              <a:rPr lang="en-US" b="1" dirty="0"/>
              <a:t>Why does the household cook ask Mrs. Samsa to let her go?</a:t>
            </a:r>
            <a:endParaRPr lang="en-CN" b="1" dirty="0"/>
          </a:p>
        </p:txBody>
      </p:sp>
      <p:sp>
        <p:nvSpPr>
          <p:cNvPr id="3" name="Content Placeholder 2">
            <a:extLst>
              <a:ext uri="{FF2B5EF4-FFF2-40B4-BE49-F238E27FC236}">
                <a16:creationId xmlns:a16="http://schemas.microsoft.com/office/drawing/2014/main" id="{A243D4E7-C5DB-C34B-9613-7BA9573C0433}"/>
              </a:ext>
            </a:extLst>
          </p:cNvPr>
          <p:cNvSpPr>
            <a:spLocks noGrp="1"/>
          </p:cNvSpPr>
          <p:nvPr>
            <p:ph idx="1"/>
          </p:nvPr>
        </p:nvSpPr>
        <p:spPr/>
        <p:txBody>
          <a:bodyPr>
            <a:normAutofit fontScale="92500" lnSpcReduction="10000"/>
          </a:bodyPr>
          <a:lstStyle/>
          <a:p>
            <a:r>
              <a:rPr lang="en-US" sz="5400" dirty="0"/>
              <a:t>The cook wants to leave the Samsa household because she no longer wants to work in the same apartment where there is a repulsive creature living.</a:t>
            </a:r>
            <a:endParaRPr lang="en-CN" sz="5400" dirty="0"/>
          </a:p>
        </p:txBody>
      </p:sp>
    </p:spTree>
    <p:extLst>
      <p:ext uri="{BB962C8B-B14F-4D97-AF65-F5344CB8AC3E}">
        <p14:creationId xmlns:p14="http://schemas.microsoft.com/office/powerpoint/2010/main" val="221744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E3352-0A79-5D43-82D3-A58449168644}"/>
              </a:ext>
            </a:extLst>
          </p:cNvPr>
          <p:cNvSpPr>
            <a:spLocks noGrp="1"/>
          </p:cNvSpPr>
          <p:nvPr>
            <p:ph type="title"/>
          </p:nvPr>
        </p:nvSpPr>
        <p:spPr/>
        <p:txBody>
          <a:bodyPr/>
          <a:lstStyle/>
          <a:p>
            <a:r>
              <a:rPr lang="en-US" b="1" dirty="0"/>
              <a:t>Who has assumed major responsibility for Gregor's life?</a:t>
            </a:r>
            <a:endParaRPr lang="en-CN" b="1" dirty="0"/>
          </a:p>
        </p:txBody>
      </p:sp>
      <p:sp>
        <p:nvSpPr>
          <p:cNvPr id="3" name="Content Placeholder 2">
            <a:extLst>
              <a:ext uri="{FF2B5EF4-FFF2-40B4-BE49-F238E27FC236}">
                <a16:creationId xmlns:a16="http://schemas.microsoft.com/office/drawing/2014/main" id="{EB6BA634-5EF0-AE41-A996-02C6177F1F3B}"/>
              </a:ext>
            </a:extLst>
          </p:cNvPr>
          <p:cNvSpPr>
            <a:spLocks noGrp="1"/>
          </p:cNvSpPr>
          <p:nvPr>
            <p:ph idx="1"/>
          </p:nvPr>
        </p:nvSpPr>
        <p:spPr/>
        <p:txBody>
          <a:bodyPr>
            <a:normAutofit/>
          </a:bodyPr>
          <a:lstStyle/>
          <a:p>
            <a:r>
              <a:rPr lang="en-US" sz="5400" dirty="0"/>
              <a:t>Grete has assumed the major task of caring for Gregor.</a:t>
            </a:r>
            <a:endParaRPr lang="en-CN" sz="5400" dirty="0"/>
          </a:p>
        </p:txBody>
      </p:sp>
    </p:spTree>
    <p:extLst>
      <p:ext uri="{BB962C8B-B14F-4D97-AF65-F5344CB8AC3E}">
        <p14:creationId xmlns:p14="http://schemas.microsoft.com/office/powerpoint/2010/main" val="62299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051A6-5804-2F43-8DC6-985DFA02C8D8}"/>
              </a:ext>
            </a:extLst>
          </p:cNvPr>
          <p:cNvSpPr>
            <a:spLocks noGrp="1"/>
          </p:cNvSpPr>
          <p:nvPr>
            <p:ph type="title"/>
          </p:nvPr>
        </p:nvSpPr>
        <p:spPr/>
        <p:txBody>
          <a:bodyPr/>
          <a:lstStyle/>
          <a:p>
            <a:r>
              <a:rPr lang="en-US" b="1" dirty="0"/>
              <a:t>How does Grete's attitude and behavior toward Gregor change in section 2?</a:t>
            </a:r>
            <a:endParaRPr lang="en-CN" b="1" dirty="0"/>
          </a:p>
        </p:txBody>
      </p:sp>
      <p:sp>
        <p:nvSpPr>
          <p:cNvPr id="3" name="Content Placeholder 2">
            <a:extLst>
              <a:ext uri="{FF2B5EF4-FFF2-40B4-BE49-F238E27FC236}">
                <a16:creationId xmlns:a16="http://schemas.microsoft.com/office/drawing/2014/main" id="{88EE235A-8D3D-F747-ADC2-A66822F33FB7}"/>
              </a:ext>
            </a:extLst>
          </p:cNvPr>
          <p:cNvSpPr>
            <a:spLocks noGrp="1"/>
          </p:cNvSpPr>
          <p:nvPr>
            <p:ph idx="1"/>
          </p:nvPr>
        </p:nvSpPr>
        <p:spPr>
          <a:xfrm>
            <a:off x="685801" y="1887415"/>
            <a:ext cx="11213122" cy="4853354"/>
          </a:xfrm>
        </p:spPr>
        <p:txBody>
          <a:bodyPr>
            <a:noAutofit/>
          </a:bodyPr>
          <a:lstStyle/>
          <a:p>
            <a:r>
              <a:rPr lang="en-US" sz="4000" dirty="0"/>
              <a:t>Grete begins to grow impatient whenever she has to enter Gregor's room to feed him and to clean up the room. Her indifference also becomes evident in having to care for Gregor. While she herself may not be aware of the changes in her character, Gregor perceptively realizes that her enthusiasm and interest in him are waning.</a:t>
            </a:r>
            <a:endParaRPr lang="en-CN" sz="4000" dirty="0"/>
          </a:p>
        </p:txBody>
      </p:sp>
    </p:spTree>
    <p:extLst>
      <p:ext uri="{BB962C8B-B14F-4D97-AF65-F5344CB8AC3E}">
        <p14:creationId xmlns:p14="http://schemas.microsoft.com/office/powerpoint/2010/main" val="419492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65FEB-98A9-814E-B184-4E7D45C2C030}"/>
              </a:ext>
            </a:extLst>
          </p:cNvPr>
          <p:cNvSpPr>
            <a:spLocks noGrp="1"/>
          </p:cNvSpPr>
          <p:nvPr>
            <p:ph type="title"/>
          </p:nvPr>
        </p:nvSpPr>
        <p:spPr/>
        <p:txBody>
          <a:bodyPr>
            <a:normAutofit/>
          </a:bodyPr>
          <a:lstStyle/>
          <a:p>
            <a:pPr fontAlgn="t"/>
            <a:r>
              <a:rPr lang="en-US" b="1" dirty="0"/>
              <a:t>Why does Grete want to remove most of the furniture from Gregor's room?</a:t>
            </a:r>
            <a:endParaRPr lang="en-CN" b="1" dirty="0"/>
          </a:p>
        </p:txBody>
      </p:sp>
      <p:sp>
        <p:nvSpPr>
          <p:cNvPr id="3" name="Content Placeholder 2">
            <a:extLst>
              <a:ext uri="{FF2B5EF4-FFF2-40B4-BE49-F238E27FC236}">
                <a16:creationId xmlns:a16="http://schemas.microsoft.com/office/drawing/2014/main" id="{05A07784-BD27-AC48-BB9D-0002461A3F20}"/>
              </a:ext>
            </a:extLst>
          </p:cNvPr>
          <p:cNvSpPr>
            <a:spLocks noGrp="1"/>
          </p:cNvSpPr>
          <p:nvPr>
            <p:ph idx="1"/>
          </p:nvPr>
        </p:nvSpPr>
        <p:spPr/>
        <p:txBody>
          <a:bodyPr>
            <a:normAutofit fontScale="92500" lnSpcReduction="10000"/>
          </a:bodyPr>
          <a:lstStyle/>
          <a:p>
            <a:r>
              <a:rPr lang="en-US" sz="5400" dirty="0"/>
              <a:t>Grete feels that Gregor needs more space for his “new amusement” of crawling around and to that end she wants to remove most of the furniture from his room.</a:t>
            </a:r>
            <a:endParaRPr lang="en-CN" sz="5400" dirty="0"/>
          </a:p>
        </p:txBody>
      </p:sp>
    </p:spTree>
    <p:extLst>
      <p:ext uri="{BB962C8B-B14F-4D97-AF65-F5344CB8AC3E}">
        <p14:creationId xmlns:p14="http://schemas.microsoft.com/office/powerpoint/2010/main" val="184800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14597-F523-D74B-8689-A758A960364D}"/>
              </a:ext>
            </a:extLst>
          </p:cNvPr>
          <p:cNvSpPr>
            <a:spLocks noGrp="1"/>
          </p:cNvSpPr>
          <p:nvPr>
            <p:ph type="title"/>
          </p:nvPr>
        </p:nvSpPr>
        <p:spPr/>
        <p:txBody>
          <a:bodyPr/>
          <a:lstStyle/>
          <a:p>
            <a:r>
              <a:rPr lang="en-US" b="1" dirty="0"/>
              <a:t>How has the balance of power in the Samsa household changed by the end of Part 2?</a:t>
            </a:r>
            <a:endParaRPr lang="en-CN" b="1" dirty="0"/>
          </a:p>
        </p:txBody>
      </p:sp>
      <p:sp>
        <p:nvSpPr>
          <p:cNvPr id="3" name="Content Placeholder 2">
            <a:extLst>
              <a:ext uri="{FF2B5EF4-FFF2-40B4-BE49-F238E27FC236}">
                <a16:creationId xmlns:a16="http://schemas.microsoft.com/office/drawing/2014/main" id="{92A2CFE5-3C99-D246-A8DF-82120B57F36B}"/>
              </a:ext>
            </a:extLst>
          </p:cNvPr>
          <p:cNvSpPr>
            <a:spLocks noGrp="1"/>
          </p:cNvSpPr>
          <p:nvPr>
            <p:ph idx="1"/>
          </p:nvPr>
        </p:nvSpPr>
        <p:spPr>
          <a:xfrm>
            <a:off x="685800" y="2142067"/>
            <a:ext cx="11201399" cy="4504918"/>
          </a:xfrm>
        </p:spPr>
        <p:txBody>
          <a:bodyPr>
            <a:normAutofit fontScale="85000" lnSpcReduction="20000"/>
          </a:bodyPr>
          <a:lstStyle/>
          <a:p>
            <a:r>
              <a:rPr lang="en-US" sz="5400" dirty="0"/>
              <a:t>Now that Mr. Samsa is again earning money, he has the upper hand and is no longer dependent upon Gregor for his comfort and security. And since Gregor is now no longer able to work, he must depend upon his father, and to a lesser degree, upon his sister and mother, for his survival.</a:t>
            </a:r>
            <a:endParaRPr lang="en-CN" sz="5400" dirty="0"/>
          </a:p>
        </p:txBody>
      </p:sp>
    </p:spTree>
    <p:extLst>
      <p:ext uri="{BB962C8B-B14F-4D97-AF65-F5344CB8AC3E}">
        <p14:creationId xmlns:p14="http://schemas.microsoft.com/office/powerpoint/2010/main" val="77755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286F92-6209-9547-BB2D-DA0A59FDCEEE}"/>
              </a:ext>
            </a:extLst>
          </p:cNvPr>
          <p:cNvSpPr>
            <a:spLocks noGrp="1"/>
          </p:cNvSpPr>
          <p:nvPr>
            <p:ph type="title"/>
          </p:nvPr>
        </p:nvSpPr>
        <p:spPr/>
        <p:txBody>
          <a:bodyPr>
            <a:normAutofit/>
          </a:bodyPr>
          <a:lstStyle/>
          <a:p>
            <a:r>
              <a:rPr lang="en-CN" sz="6000" dirty="0"/>
              <a:t>Reading quiz!</a:t>
            </a:r>
          </a:p>
        </p:txBody>
      </p:sp>
      <p:sp>
        <p:nvSpPr>
          <p:cNvPr id="5" name="Text Placeholder 4">
            <a:extLst>
              <a:ext uri="{FF2B5EF4-FFF2-40B4-BE49-F238E27FC236}">
                <a16:creationId xmlns:a16="http://schemas.microsoft.com/office/drawing/2014/main" id="{4ACFFDBF-4DAC-784A-8208-D511AD209955}"/>
              </a:ext>
            </a:extLst>
          </p:cNvPr>
          <p:cNvSpPr>
            <a:spLocks noGrp="1"/>
          </p:cNvSpPr>
          <p:nvPr>
            <p:ph type="body" idx="1"/>
          </p:nvPr>
        </p:nvSpPr>
        <p:spPr/>
        <p:txBody>
          <a:bodyPr/>
          <a:lstStyle/>
          <a:p>
            <a:endParaRPr lang="en-CN"/>
          </a:p>
        </p:txBody>
      </p:sp>
    </p:spTree>
    <p:extLst>
      <p:ext uri="{BB962C8B-B14F-4D97-AF65-F5344CB8AC3E}">
        <p14:creationId xmlns:p14="http://schemas.microsoft.com/office/powerpoint/2010/main" val="18814706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docProps/app.xml><?xml version="1.0" encoding="utf-8"?>
<Properties xmlns="http://schemas.openxmlformats.org/officeDocument/2006/extended-properties" xmlns:vt="http://schemas.openxmlformats.org/officeDocument/2006/docPropsVTypes">
  <Template>{9DA66E8A-3306-9D43-A9CE-5AC7F8C8DA05}tf10001058</Template>
  <TotalTime>255</TotalTime>
  <Words>343</Words>
  <Application>Microsoft Macintosh PowerPoint</Application>
  <PresentationFormat>Widescreen</PresentationFormat>
  <Paragraphs>18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Celestial</vt:lpstr>
      <vt:lpstr>English 2  July 14</vt:lpstr>
      <vt:lpstr>Attendance</vt:lpstr>
      <vt:lpstr>The Metamorphosis</vt:lpstr>
      <vt:lpstr>Why doesn't Gregor drink the milk his sister leaves for him?</vt:lpstr>
      <vt:lpstr>Why does the household cook ask Mrs. Samsa to let her go?</vt:lpstr>
      <vt:lpstr>Who has assumed major responsibility for Gregor's life?</vt:lpstr>
      <vt:lpstr>How does Grete's attitude and behavior toward Gregor change in section 2?</vt:lpstr>
      <vt:lpstr>Why does Grete want to remove most of the furniture from Gregor's room?</vt:lpstr>
      <vt:lpstr>How has the balance of power in the Samsa household changed by the end of Part 2?</vt:lpstr>
      <vt:lpstr>Reading 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2  July 13</dc:title>
  <dc:creator>maxqkeenan@gmail.com</dc:creator>
  <cp:lastModifiedBy>maxqkeenan@gmail.com</cp:lastModifiedBy>
  <cp:revision>6</cp:revision>
  <dcterms:created xsi:type="dcterms:W3CDTF">2021-07-14T01:01:56Z</dcterms:created>
  <dcterms:modified xsi:type="dcterms:W3CDTF">2021-07-14T05:46:46Z</dcterms:modified>
</cp:coreProperties>
</file>