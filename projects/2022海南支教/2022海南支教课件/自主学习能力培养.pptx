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031" y="4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EBE7C-9348-4EC0-AF62-C5BBD098B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2E8A82-C8C7-43F9-AF33-CBDEA84B5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4A88BA-BE25-4C19-9D24-11A69280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7A38BB-FECD-40B7-97C0-B03A6CC6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EE0298-AEC1-4797-99CB-A45C13B5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77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5AFB8-BF56-42E5-BF74-6D3E41D4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6F776D-F97A-4056-A916-2D08D95A6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5E923E-DC88-49DD-B763-55F30C0D0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1B4C1B-EDD5-45CD-BE01-1DF484DA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A07B6-312F-477D-A6A3-6F403DC6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49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EB7EF-FC01-4CFB-A982-85F5B53BE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0905DD-7A4B-42FC-B4C9-AE77672A2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08B02B-1826-4FAA-A80C-AA36557B8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605C21-4B30-45D6-B314-6A22B524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0884E5-042C-4755-A713-44B64B67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80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63855-220B-4952-873B-089CA69F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87658F-F04E-42F8-90E3-BE46D5DA1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4A952A-98DF-4D90-8F68-D0424E214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327FFA-4B30-4C06-A3D9-1CEFB526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1DA417-376A-4B52-86F0-D33F5FE3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88412E-C4F7-4914-A53A-549894B4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58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D7D59-D133-486B-94A5-7D535896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CEF3BF-558E-49DA-8472-737FC509B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0A2D05-5E4E-4DF9-BC70-F3B25ECDF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8F8BD3-0A74-4CE1-A697-C93BD64DC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46A1F0-0C31-44BD-B77F-7BD925CC9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A131A4-0417-42EF-AD09-824EE390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9DFC6F0-B615-4BDE-9FD3-DA74DA42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D1FC9D-25FE-4C04-BFF2-26A8F4E4C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312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C01C5-2793-4F41-B129-E09939E06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30ED45-A9A9-4DFA-97D7-31B9D3FCC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BB368A-2BCB-4592-9694-F676460B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70986F-0735-4FF1-A7E6-7F4E3109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304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56131C-E81D-48BC-827D-4D2A2CEF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81835C-DE30-48BD-BA88-7CD86AA2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EE2789-BDDE-4ED7-AC0F-288981D5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166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4A0D5-954E-4D09-AA10-19368869D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589133-F50C-447C-B212-BE2B8081C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80EF41-1741-4F1A-BD15-CE8E522B5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ED4929-E88D-40A3-9183-A6A20D85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B939A1-FEFD-425F-8AFB-707AA85FE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F26E12-BF79-470E-BB98-C4AB0156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426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817FE-4626-4C62-B8E3-5868D37CF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842068-E2BB-44B8-BB82-A8A7E507D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89294C-0E58-42BD-A6DB-22BEDDBEE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C33FBE-04E2-43C9-8FE1-DDDF82C9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2D9A0A-EF32-4A40-9B90-B0F4BC60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DBE25-53AE-4CB4-9B9F-03E3A2D7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64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DEF70-389B-4E38-B259-7ED820F5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10F1BB-3267-4522-99BF-280D5DD6B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B12687-1772-4134-B67C-488047BF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7E1EE-F2D6-4AE4-B9EF-11A118AE8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04895E-A426-42E3-8062-A25EECC2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65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F9E2493-386A-4F50-9D0D-7B321836C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9FD00A-3BFB-4E26-8A0C-433D5C858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AAD324-22C4-4539-8FB3-3622BE7E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46BAE8-7DE2-4A01-BA8E-4D24F4EC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1EEA65-96B8-456C-B5EB-707F240B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10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E67706-9523-4C05-896A-7AA987E8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AFD77A-1144-4C33-A09C-FEB748C27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5C676-DC9E-4202-BC61-DD9BD072BA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1D01D-926C-4034-920B-FFDACE8E545B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04E31-9911-4877-A7A3-2B41CA0AC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DFE2D-2E71-4E2D-824B-6B7B77D1B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A8D8B-FBB7-45F1-A31C-7C3F9A050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75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CFDAA-132B-4D8D-87BA-DD7F1FFE6F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自主学习能力培养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ACB8B3-9968-4C48-AB97-87AF0F96AB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8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57BCE-12BF-486F-B945-B49FED76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自主学习的例子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95F1F-D32D-47A8-BC40-BDFF2E6B0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著名物理学家阿尔伯特 </a:t>
            </a:r>
            <a:r>
              <a:rPr lang="zh-CN" altLang="en-US" dirty="0">
                <a:sym typeface="Wingdings" panose="05000000000000000000" pitchFamily="2" charset="2"/>
              </a:rPr>
              <a:t></a:t>
            </a:r>
            <a:r>
              <a:rPr lang="zh-CN" altLang="en-US" dirty="0"/>
              <a:t> 爱因斯坦就是一个坚实的自主学习者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软件脸书的制作者</a:t>
            </a:r>
            <a:r>
              <a:rPr lang="en-US" altLang="zh-CN" dirty="0"/>
              <a:t>: </a:t>
            </a:r>
            <a:r>
              <a:rPr lang="zh-CN" altLang="en-US" dirty="0"/>
              <a:t>马克 </a:t>
            </a:r>
            <a:r>
              <a:rPr lang="zh-CN" altLang="en-US" dirty="0">
                <a:sym typeface="Wingdings" panose="05000000000000000000" pitchFamily="2" charset="2"/>
              </a:rPr>
              <a:t> </a:t>
            </a:r>
            <a:r>
              <a:rPr lang="zh-CN" altLang="en-US" dirty="0"/>
              <a:t>扎克伯格在制作软件时完全依靠自己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我从小学开始</a:t>
            </a:r>
            <a:r>
              <a:rPr lang="en-US" altLang="zh-CN" dirty="0"/>
              <a:t>, </a:t>
            </a:r>
            <a:r>
              <a:rPr lang="zh-CN" altLang="en-US" dirty="0"/>
              <a:t>学习从来都是靠自己</a:t>
            </a:r>
            <a:r>
              <a:rPr lang="en-US" altLang="zh-CN" dirty="0"/>
              <a:t>, </a:t>
            </a:r>
            <a:r>
              <a:rPr lang="zh-CN" altLang="en-US" dirty="0"/>
              <a:t>有不懂的问题都会自己看例题</a:t>
            </a:r>
            <a:r>
              <a:rPr lang="en-US" altLang="zh-CN" dirty="0"/>
              <a:t>, </a:t>
            </a:r>
            <a:r>
              <a:rPr lang="zh-CN" altLang="en-US" dirty="0"/>
              <a:t>有学习好的同学给我讲我反而听不懂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班上的学霸们基本都是自己在学习</a:t>
            </a:r>
            <a:r>
              <a:rPr lang="en-US" altLang="zh-CN" dirty="0"/>
              <a:t>, </a:t>
            </a:r>
            <a:r>
              <a:rPr lang="zh-CN" altLang="en-US" dirty="0"/>
              <a:t>用自己的方法完成学习和其他任务</a:t>
            </a:r>
            <a:r>
              <a:rPr lang="en-US" altLang="zh-C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2082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7F4BF-AACB-409C-A1DA-3A983CF40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自主学习的方法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D3FBA2-4FA8-4D95-99C4-5971365DF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自主学习靠的是自己</a:t>
            </a:r>
            <a:r>
              <a:rPr lang="en-US" altLang="zh-CN" dirty="0"/>
              <a:t>, </a:t>
            </a:r>
            <a:r>
              <a:rPr lang="zh-CN" altLang="en-US" dirty="0"/>
              <a:t>但是不代表完全不参考他人意见和借助他人的帮助</a:t>
            </a:r>
            <a:r>
              <a:rPr lang="en-US" altLang="zh-CN" dirty="0"/>
              <a:t>. </a:t>
            </a:r>
            <a:r>
              <a:rPr lang="zh-CN" altLang="en-US" dirty="0"/>
              <a:t>在自主学习的时候可以使用电脑和书籍来进行学习</a:t>
            </a:r>
            <a:r>
              <a:rPr lang="en-US" altLang="zh-CN" dirty="0"/>
              <a:t>, </a:t>
            </a:r>
            <a:r>
              <a:rPr lang="zh-CN" altLang="en-US" dirty="0"/>
              <a:t>例如</a:t>
            </a:r>
            <a:r>
              <a:rPr lang="en-US" altLang="zh-CN" dirty="0"/>
              <a:t>: </a:t>
            </a:r>
            <a:r>
              <a:rPr lang="zh-CN" altLang="en-US" dirty="0"/>
              <a:t>学习的时候有做不出的题目</a:t>
            </a:r>
            <a:r>
              <a:rPr lang="en-US" altLang="zh-CN" dirty="0"/>
              <a:t>, </a:t>
            </a:r>
            <a:r>
              <a:rPr lang="zh-CN" altLang="en-US" dirty="0"/>
              <a:t>可以去书本的例题部分</a:t>
            </a:r>
            <a:r>
              <a:rPr lang="en-US" altLang="zh-CN" dirty="0"/>
              <a:t>, </a:t>
            </a:r>
            <a:r>
              <a:rPr lang="zh-CN" altLang="en-US" dirty="0"/>
              <a:t>跟着例题的步骤慢慢来</a:t>
            </a:r>
            <a:r>
              <a:rPr lang="en-US" altLang="zh-CN" dirty="0"/>
              <a:t>. </a:t>
            </a:r>
            <a:r>
              <a:rPr lang="zh-CN" altLang="en-US" dirty="0"/>
              <a:t>解出题目后</a:t>
            </a:r>
            <a:r>
              <a:rPr lang="en-US" altLang="zh-CN" dirty="0"/>
              <a:t>, </a:t>
            </a:r>
            <a:r>
              <a:rPr lang="zh-CN" altLang="en-US" dirty="0"/>
              <a:t>观察两道题的不同点和相同点</a:t>
            </a:r>
            <a:r>
              <a:rPr lang="en-US" altLang="zh-CN" dirty="0"/>
              <a:t>, </a:t>
            </a:r>
            <a:r>
              <a:rPr lang="zh-CN" altLang="en-US" dirty="0"/>
              <a:t>推测出做题方法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在背诵单词</a:t>
            </a:r>
            <a:r>
              <a:rPr lang="en-US" altLang="zh-CN" dirty="0"/>
              <a:t>, </a:t>
            </a:r>
            <a:r>
              <a:rPr lang="zh-CN" altLang="en-US" dirty="0"/>
              <a:t>文段时</a:t>
            </a:r>
            <a:r>
              <a:rPr lang="en-US" altLang="zh-CN" dirty="0"/>
              <a:t>, </a:t>
            </a:r>
            <a:r>
              <a:rPr lang="zh-CN" altLang="en-US" dirty="0"/>
              <a:t>可以找一个安静的地方</a:t>
            </a:r>
            <a:r>
              <a:rPr lang="en-US" altLang="zh-CN" dirty="0"/>
              <a:t>, </a:t>
            </a:r>
            <a:r>
              <a:rPr lang="zh-CN" altLang="en-US" dirty="0"/>
              <a:t>将所有有可能影响到自己学习的东西放到一边</a:t>
            </a:r>
            <a:r>
              <a:rPr lang="en-US" altLang="zh-CN" dirty="0"/>
              <a:t>, </a:t>
            </a:r>
            <a:r>
              <a:rPr lang="zh-CN" altLang="en-US" dirty="0"/>
              <a:t>然后按照你自己喜欢的方式进行背诵</a:t>
            </a:r>
            <a:r>
              <a:rPr lang="en-US" altLang="zh-C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5738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084D10F8-7E82-42C2-8A4E-12A08BD53D0B}"/>
              </a:ext>
            </a:extLst>
          </p:cNvPr>
          <p:cNvCxnSpPr>
            <a:cxnSpLocks/>
          </p:cNvCxnSpPr>
          <p:nvPr/>
        </p:nvCxnSpPr>
        <p:spPr>
          <a:xfrm flipV="1">
            <a:off x="9383983" y="4535503"/>
            <a:ext cx="1293479" cy="271600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46CD9509-AB71-4B2D-BE4D-B90F5410D9CC}"/>
              </a:ext>
            </a:extLst>
          </p:cNvPr>
          <p:cNvCxnSpPr>
            <a:cxnSpLocks/>
          </p:cNvCxnSpPr>
          <p:nvPr/>
        </p:nvCxnSpPr>
        <p:spPr>
          <a:xfrm flipV="1">
            <a:off x="3891683" y="4545372"/>
            <a:ext cx="1293479" cy="271600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E29A884E-6394-4F7B-85F5-6ED56708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607FE5-9FAA-4DC9-811B-0C59F49C4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将一元一次不等式完全掌握</a:t>
            </a:r>
            <a:endParaRPr lang="en-US" altLang="zh-CN" dirty="0"/>
          </a:p>
          <a:p>
            <a:r>
              <a:rPr lang="zh-CN" altLang="en-US" dirty="0"/>
              <a:t>例题</a:t>
            </a:r>
            <a:r>
              <a:rPr lang="en-US" altLang="zh-CN" dirty="0"/>
              <a:t>: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29CB77-A9EA-4886-B86E-9723BB955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849" y="2430442"/>
            <a:ext cx="2011854" cy="1774090"/>
          </a:xfrm>
          <a:prstGeom prst="rect">
            <a:avLst/>
          </a:prstGeom>
        </p:spPr>
      </p:pic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FCFBEF5C-9A67-4341-AEDA-DE26B06D9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534837"/>
              </p:ext>
            </p:extLst>
          </p:nvPr>
        </p:nvGraphicFramePr>
        <p:xfrm>
          <a:off x="1319344" y="4805432"/>
          <a:ext cx="3620864" cy="5008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6212">
                  <a:extLst>
                    <a:ext uri="{9D8B030D-6E8A-4147-A177-3AD203B41FA5}">
                      <a16:colId xmlns:a16="http://schemas.microsoft.com/office/drawing/2014/main" val="3967241424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1171191431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66103719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1552067798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3995721124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881054970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1254927498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1078140325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2868908302"/>
                    </a:ext>
                  </a:extLst>
                </a:gridCol>
              </a:tblGrid>
              <a:tr h="5008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149941"/>
                  </a:ext>
                </a:extLst>
              </a:tr>
            </a:tbl>
          </a:graphicData>
        </a:graphic>
      </p:graphicFrame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1A8FEF27-862F-4A84-90F0-E70511CE3DE4}"/>
              </a:ext>
            </a:extLst>
          </p:cNvPr>
          <p:cNvSpPr/>
          <p:nvPr/>
        </p:nvSpPr>
        <p:spPr>
          <a:xfrm flipV="1">
            <a:off x="4515564" y="4770834"/>
            <a:ext cx="45719" cy="45719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01B6C92A-7E16-44D7-A400-568F3EA0C41B}"/>
              </a:ext>
            </a:extLst>
          </p:cNvPr>
          <p:cNvSpPr txBox="1">
            <a:spLocks/>
          </p:cNvSpPr>
          <p:nvPr/>
        </p:nvSpPr>
        <p:spPr>
          <a:xfrm>
            <a:off x="7403123" y="2627312"/>
            <a:ext cx="2016512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altLang="zh-CN" b="1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92A5B07-2B0A-4123-A52A-254D532CA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666" y="2465467"/>
            <a:ext cx="2121592" cy="1700931"/>
          </a:xfrm>
          <a:prstGeom prst="rect">
            <a:avLst/>
          </a:prstGeom>
        </p:spPr>
      </p:pic>
      <p:graphicFrame>
        <p:nvGraphicFramePr>
          <p:cNvPr id="14" name="表格 6">
            <a:extLst>
              <a:ext uri="{FF2B5EF4-FFF2-40B4-BE49-F238E27FC236}">
                <a16:creationId xmlns:a16="http://schemas.microsoft.com/office/drawing/2014/main" id="{749E5A1F-F6E2-4CD7-9EE0-2170A3486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66900"/>
              </p:ext>
            </p:extLst>
          </p:nvPr>
        </p:nvGraphicFramePr>
        <p:xfrm>
          <a:off x="6806030" y="4806240"/>
          <a:ext cx="3620864" cy="5008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6212">
                  <a:extLst>
                    <a:ext uri="{9D8B030D-6E8A-4147-A177-3AD203B41FA5}">
                      <a16:colId xmlns:a16="http://schemas.microsoft.com/office/drawing/2014/main" val="3967241424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1171191431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66103719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1552067798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3995721124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881054970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1254927498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1078140325"/>
                    </a:ext>
                  </a:extLst>
                </a:gridCol>
                <a:gridCol w="396212">
                  <a:extLst>
                    <a:ext uri="{9D8B030D-6E8A-4147-A177-3AD203B41FA5}">
                      <a16:colId xmlns:a16="http://schemas.microsoft.com/office/drawing/2014/main" val="2868908302"/>
                    </a:ext>
                  </a:extLst>
                </a:gridCol>
              </a:tblGrid>
              <a:tr h="5008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149941"/>
                  </a:ext>
                </a:extLst>
              </a:tr>
            </a:tbl>
          </a:graphicData>
        </a:graphic>
      </p:graphicFrame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3ED7A4DB-8980-4F7F-A42F-35E3866E1F11}"/>
              </a:ext>
            </a:extLst>
          </p:cNvPr>
          <p:cNvSpPr/>
          <p:nvPr/>
        </p:nvSpPr>
        <p:spPr>
          <a:xfrm flipV="1">
            <a:off x="10007862" y="4782572"/>
            <a:ext cx="45719" cy="45719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64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45EDF-6CD2-4C87-BCDB-4AAC42250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试题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806FD04-F7B3-436D-AFC0-4D47B612093E}"/>
              </a:ext>
            </a:extLst>
          </p:cNvPr>
          <p:cNvSpPr txBox="1">
            <a:spLocks/>
          </p:cNvSpPr>
          <p:nvPr/>
        </p:nvSpPr>
        <p:spPr>
          <a:xfrm>
            <a:off x="2651502" y="2073597"/>
            <a:ext cx="4911671" cy="23589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dirty="0">
                <a:latin typeface="+mn-ea"/>
              </a:rPr>
              <a:t>X+26×2&lt;72</a:t>
            </a:r>
          </a:p>
          <a:p>
            <a:pPr>
              <a:lnSpc>
                <a:spcPct val="10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+mn-ea"/>
              </a:rPr>
              <a:t>X-7</a:t>
            </a:r>
            <a:r>
              <a:rPr lang="zh-CN" altLang="en-US" dirty="0">
                <a:latin typeface="+mn-ea"/>
              </a:rPr>
              <a:t>≤</a:t>
            </a:r>
            <a:r>
              <a:rPr lang="en-US" altLang="zh-CN" dirty="0">
                <a:latin typeface="+mn-ea"/>
              </a:rPr>
              <a:t>1-5</a:t>
            </a:r>
          </a:p>
          <a:p>
            <a:pPr>
              <a:lnSpc>
                <a:spcPct val="10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+mn-ea"/>
              </a:rPr>
              <a:t>X</a:t>
            </a:r>
            <a:r>
              <a:rPr lang="zh-CN" altLang="en-US" dirty="0">
                <a:latin typeface="+mn-ea"/>
              </a:rPr>
              <a:t>≤</a:t>
            </a:r>
            <a:r>
              <a:rPr lang="en-US" altLang="zh-CN" dirty="0">
                <a:latin typeface="+mn-ea"/>
              </a:rPr>
              <a:t>6+3</a:t>
            </a:r>
          </a:p>
          <a:p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12E5573-717F-4150-9C6B-5EC900DF6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129" y="2073597"/>
            <a:ext cx="4911671" cy="235891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n-ea"/>
              </a:rPr>
              <a:t>X-7</a:t>
            </a:r>
            <a:r>
              <a:rPr lang="zh-CN" altLang="en-US" sz="2800" dirty="0">
                <a:latin typeface="+mn-ea"/>
              </a:rPr>
              <a:t>≤</a:t>
            </a:r>
            <a:r>
              <a:rPr lang="en-US" altLang="zh-CN" sz="2800" dirty="0">
                <a:latin typeface="+mn-ea"/>
              </a:rPr>
              <a:t>6+3×7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n-ea"/>
              </a:rPr>
              <a:t>X-1</a:t>
            </a:r>
            <a:r>
              <a:rPr lang="zh-CN" altLang="en-US" sz="2800" dirty="0">
                <a:latin typeface="+mn-ea"/>
              </a:rPr>
              <a:t>≥</a:t>
            </a:r>
            <a:r>
              <a:rPr lang="en-US" altLang="zh-CN" sz="2800" dirty="0">
                <a:latin typeface="+mn-ea"/>
              </a:rPr>
              <a:t>9-5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n-ea"/>
              </a:rPr>
              <a:t>X+3</a:t>
            </a:r>
            <a:r>
              <a:rPr lang="zh-CN" altLang="en-US" sz="2800" dirty="0">
                <a:latin typeface="+mn-ea"/>
              </a:rPr>
              <a:t>＞</a:t>
            </a:r>
            <a:r>
              <a:rPr lang="en-US" altLang="zh-CN" sz="2800" dirty="0">
                <a:latin typeface="+mn-ea"/>
              </a:rPr>
              <a:t>4-6</a:t>
            </a:r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323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263</Words>
  <Application>Microsoft Office PowerPoint</Application>
  <PresentationFormat>宽屏</PresentationFormat>
  <Paragraphs>47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自主学习能力培养</vt:lpstr>
      <vt:lpstr>自主学习的例子</vt:lpstr>
      <vt:lpstr>自主学习的方法</vt:lpstr>
      <vt:lpstr>学习目标</vt:lpstr>
      <vt:lpstr>试题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自主学习能力培养</dc:title>
  <dc:creator>ziky zhang</dc:creator>
  <cp:lastModifiedBy>ziky zhang</cp:lastModifiedBy>
  <cp:revision>2</cp:revision>
  <dcterms:created xsi:type="dcterms:W3CDTF">2022-02-07T11:20:49Z</dcterms:created>
  <dcterms:modified xsi:type="dcterms:W3CDTF">2022-02-07T12:58:05Z</dcterms:modified>
</cp:coreProperties>
</file>